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presentation describes the physical modelling framework we are developing for Mechanically Pumped Loop simulation within MPL2030.</a:t>
            </a:r>
          </a:p>
          <a:p/>
          <a:p>
            <a:r>
              <a:t>Our central challenge is that MPL loops tightly couple global pressure, local enthalpy transport, two-phase thermodynamics, a pressurising accumulator, and empirical closure relations — all of which interact. A monolithic implementation makes any one of those elements hard to replace or validate in isolation.</a:t>
            </a:r>
          </a:p>
          <a:p/>
          <a:p>
            <a:r>
              <a:t>The framework is designed to keep every physical assumption explicit and 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shows the essential topology of a single-loop MPL with two parallel evaporator branches and one condenser.</a:t>
            </a:r>
          </a:p>
          <a:p/>
          <a:p>
            <a:r>
              <a:t>The key physical coupling is the pressure loop closure: the pump provides a pressure rise that must exactly balance the sum of all distributed and localised pressure drops. The accumulator sets the absolute pressure reference.</a:t>
            </a:r>
          </a:p>
          <a:p/>
          <a:p>
            <a:r>
              <a:t>In the two-phase regions — the evaporators and part of the condenser — enthalpy, quality, heat transfer and two-phase pressure drop are tightly coupled. Parallel branches add a branch maldistribution problem: the framework must determine how the total mass flow splits between branches.</a:t>
            </a:r>
          </a:p>
          <a:p/>
          <a:p>
            <a:r>
              <a:t>The variables P, h, ṁ are the primary unknowns. Temperature, quality, density and phase are derived quantities.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state representation is a foundational design decision.</a:t>
            </a:r>
          </a:p>
          <a:p/>
          <a:p>
            <a:r>
              <a:t>SystemState is the solver-owned flat vector of all primary unknowns: pressure P, specific enthalpy h, and mass flow ṁ at every port-node, plus named internal states such as the accumulator gas volume V_g and the pump shaft speed ω.</a:t>
            </a:r>
          </a:p>
          <a:p/>
          <a:p>
            <a:r>
              <a:t>FluidState is a pure value object (P, h, identity). It is ephemeral — constructed transiently when a property is needed and then discarded. All derived quantities — temperature, density, quality, viscosity — are computed on demand from the PropertyBackend. They are never stored.</a:t>
            </a:r>
          </a:p>
          <a:p/>
          <a:p>
            <a:r>
              <a:t>The key equation is the quality relation: x = (h − h_f(P)) / (h_fg(P)). It is continuous and differentiable across the saturation dome, which is essential for Newton convergence without region-switching.</a:t>
            </a:r>
          </a:p>
          <a:p/>
          <a:p>
            <a:r>
              <a:t>Mass flow rate ṁ is part of SystemState, not FluidState. FluidState is two numbers plus identity — nothing else.</a:t>
            </a:r>
          </a:p>
          <a:p/>
          <a:p>
            <a:r>
              <a:t>Ports carry no values. They are connectivity declarations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a strictly acyclic layered dependency graph. Every concept has a layer, and dependencies are permitted only downward.</a:t>
            </a:r>
          </a:p>
          <a:p/>
          <a:p>
            <a:r>
              <a:t>Layer 0 is inert data: Geometry and PropertyBackend. They know nothing above them.</a:t>
            </a:r>
          </a:p>
          <a:p/>
          <a:p>
            <a:r>
              <a:t>Layer 1 is FluidState. It reads the PropertyBackend and nothing else.</a:t>
            </a:r>
          </a:p>
          <a:p/>
          <a:p>
            <a:r>
              <a:t>Ports at Layer 2 are connectivity declarations only. They carry no numerical values.</a:t>
            </a:r>
          </a:p>
          <a:p/>
          <a:p>
            <a:r>
              <a:t>Correlations at Layer 3 are pure, stateless closure relations. They receive a typed input struct and return a value plus a validity verdict. They do not know the component, the network, or the solver.</a:t>
            </a:r>
          </a:p>
          <a:p/>
          <a:p>
            <a:r>
              <a:t>Calibration at Layer 4 applies named multipliers to closure outputs — never to the conservation equations themselves.</a:t>
            </a:r>
          </a:p>
          <a:p/>
          <a:p>
            <a:r>
              <a:t>Components at Layer 5 own local physics. They contribute residuals and derivatives. They do not know their neighbours, the network, or the solver.</a:t>
            </a:r>
          </a:p>
          <a:p/>
          <a:p>
            <a:r>
              <a:t>The Network at Layer 6 states what must hold: topology, loop closure, branch structure, pressure-reference wiring. The Solver at Layer 7 determines how to satisfy it numerically.</a:t>
            </a:r>
          </a:p>
          <a:p/>
          <a:p>
            <a:r>
              <a:t>This layering is not software elegance for its own sake. It makes every physical assumption explicit, replaceable, and independently validatable.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most important physical distinction in the framework explicit:</a:t>
            </a:r>
          </a:p>
          <a:p/>
          <a:p>
            <a:r>
              <a:t>Conservation equations — mass, energy, and pressure loop closure — are inviolable physical laws. They are assembled by the solver from component contributions and network conditions. They are never scaled.</a:t>
            </a:r>
          </a:p>
          <a:p/>
          <a:p>
            <a:r>
              <a:t>Closure relations — friction gradient, heat transfer coefficient, void fraction — are semi-empirical substitutes for unresolved microscale physics. They are swappable, validity-bounded, and the primary research seam.</a:t>
            </a:r>
          </a:p>
          <a:p/>
          <a:p>
            <a:r>
              <a:t>The pressure gradient in a 1D passage is decomposed into three terms: friction, gravity, and acceleration. The calibration multiplier R* applies only to the friction term. Gravity and acceleration are first-principles physics — they are never fudged.</a:t>
            </a:r>
          </a:p>
          <a:p/>
          <a:p>
            <a:r>
              <a:t>On void fraction and two-phase closures: HEM-type closures are admissible and may be used in early two-phase models, but the framework is closure-agnostic. Slip-flow, drift-flux, regime-dependent, and empirical void-fraction closures can be substituted through the same correlation slot without changing the conservation equations.</a:t>
            </a:r>
          </a:p>
          <a:p/>
          <a:p>
            <a:r>
              <a:t>Single-phase friction is implemented via Churchill (1977). Two-phase DP and HTC correlations are in progress in Phase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10 is complete. These are the two components that drive and anchor the MPL loop.</a:t>
            </a:r>
          </a:p>
          <a:p/>
          <a:p>
            <a:r>
              <a:t>The pump is modelled as a pressure-rise component. In V1 it supports a prescribed pressure-rise setpoint and interpolation from a performance map. The power/efficiency seam computes shaft power from mass flow, pressure rise, specific volume, and mechanical efficiency. Shaft speed ω is a named internal state; in V1 it is frozen (zero derivative). Dynamics will unfreeze it — no new state variable will be needed.</a:t>
            </a:r>
          </a:p>
          <a:p/>
          <a:p>
            <a:r>
              <a:t>The accumulator is a pressure-reference component. For a pneumatic compensation accumulator (PCA), the pressure law is a polytropic relation between gas volume V_g and pressure. V_g is the stored internal state; pressure is derived from it.</a:t>
            </a:r>
          </a:p>
          <a:p/>
          <a:p>
            <a:r>
              <a:t>The pressure-reference ownership is split deliberately: the accumulator owns the law and the value; the network owns which node is the reference and enforces that there is exactly one; the solver owns global consistency. This means a second accumulator is caught at topology validation, not as a numerical pathology.</a:t>
            </a:r>
          </a:p>
          <a:p/>
          <a:p>
            <a:r>
              <a:t>HCA and other law types are declared as future seams. PCA is the implemented V1 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11 introduces the HeatExchangerModel, Evaporator, and Condenser.</a:t>
            </a:r>
          </a:p>
          <a:p/>
          <a:p>
            <a:r>
              <a:t>The critical architectural distinction is that a HeatExchangerModel is not a Correlation. A Correlation returns a single local closure value — a friction factor, an HTC, a void fraction. A HeatExchangerModel is a complete solution strategy for a heat exchanger: it consumes HTC correlations, DP correlations, geometry, the PropertyBackend, and secondary boundary conditions, and it produces an integrated result — heat rate, outlet enthalpy, pressure drop, and residuals.</a:t>
            </a:r>
          </a:p>
          <a:p/>
          <a:p>
            <a:r>
              <a:t>ε-NTU is implemented as a HeatExchangerModel strategy. It is not a correlation and does not belong in the correlation registry.</a:t>
            </a:r>
          </a:p>
          <a:p/>
          <a:p>
            <a:r>
              <a:t>What is implemented so far: the HeatExchangerModel contract and registry, EvaporatorComponent and CondenserComponent wrappers, and the ε-NTU model with fixed-heat-rate and sink-inlet-temperature-and-flow modes including explicit PrimaryThermalMode and UAComputationMode.</a:t>
            </a:r>
          </a:p>
          <a:p/>
          <a:p>
            <a:r>
              <a:t>LMTD, segmented marching, and moving-boundary models are planned but not yet implemented.</a:t>
            </a:r>
          </a:p>
          <a:p/>
          <a:p>
            <a:r>
              <a:t>The parallel evaporator case is particularly important scientifically: the framework handles it through topology — adding a branch is a network edit, not a solver or component change. This makes maldistribution studies straightforward.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close with an honest assessment of where we are and where we are going.</a:t>
            </a:r>
          </a:p>
          <a:p/>
          <a:p>
            <a:r>
              <a:t>Scientific opportunities: The framework's explicit seams make it well-suited for correlation comparison studies — switching from Shah to Kim-Mudawar in an evaporator is a configuration change. Parallel evaporator branches with maldistribution are handled through topology. Accumulator stability, HEM versus slip-flow alternatives, and future dynamic and control-oriented work are all natural extensions.</a:t>
            </a:r>
          </a:p>
          <a:p/>
          <a:p>
            <a:r>
              <a:t>Limitations — we are honest about these:</a:t>
            </a:r>
          </a:p>
          <a:p>
            <a:r>
              <a:t>We are steady-state only today. Dynamic seams are prepared but not activated.</a:t>
            </a:r>
          </a:p>
          <a:p>
            <a:r>
              <a:t>Two-phase heat exchanger physics — boiling HTC, condensation HTC, two-phase DP — are in progress in Phase 11 and are not yet validated against literature data.</a:t>
            </a:r>
          </a:p>
          <a:p>
            <a:r>
              <a:t>HCA is a declared seam, not an implemented model.</a:t>
            </a:r>
          </a:p>
          <a:p>
            <a:r>
              <a:t>LMTD and segmented-march strategies are planned but not built.</a:t>
            </a:r>
          </a:p>
          <a:p/>
          <a:p>
            <a:r>
              <a:t>Validation roadmap: Phases 1 through 10 are audited and 2301 tests pass. Literature validation against Kokate (2024) R-134a data, Li et al. (2021), and Fujii (2004) is planned for Phase 12 and beyond. MPL2030 experimental data will enter as it becomes available.</a:t>
            </a:r>
          </a:p>
          <a:p/>
          <a:p>
            <a:r>
              <a:t>The closing statement says it directly: the architecture is not a software goal in itself. It is the mechanism by which physical assumptions become explicit, testable, and 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4F8A"/>
                </a:solidFill>
                <a:latin typeface="Calibri"/>
              </a:rPr>
              <a:t>A Modular Python Framework
for Mechanically Pumped Loop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82296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MPL modelling requires physically transparent coupling of
pressure, enthalpy, mass flow, phase change,
accumulator pressure reference, and empirical closures.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  <a:latin typeface="Calibri"/>
              </a:rPr>
              <a:t>Context and motivation</a:t>
            </a:r>
          </a:p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  •  MPL2030 programme: thermal control of spacecraft and high-power electronics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  •  Two-phase loops couple compressible accumulator dynamics, pump hydraulics,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     phase change in evaporator and condenser, and semi-empirical closure relations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  •  Physical transparency and replaceability of closure models are primary design goals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  •  Steady-state foundation first; dynamic seams declared and prepared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Scientific committee presentation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MPL2030 — MPL loop simulation library    |    1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8A"/>
                </a:solidFill>
                <a:latin typeface="Calibri"/>
              </a:rPr>
              <a:t>The Physical Modelling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 single-loop MPL with parallel evaporator branches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5860"/>
            <a:ext cx="1371600" cy="502920"/>
          </a:xfrm>
          <a:prstGeom prst="rect">
            <a:avLst/>
          </a:prstGeom>
          <a:solidFill>
            <a:srgbClr val="E0F4F6"/>
          </a:solidFill>
          <a:ln w="9525">
            <a:solidFill>
              <a:srgbClr val="1A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Accumulator
(PCA/HCA)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165860"/>
            <a:ext cx="137160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Pump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65860"/>
            <a:ext cx="137160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Pipe
(supply)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165860"/>
            <a:ext cx="137160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Evaporator A
Q_in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3589020"/>
            <a:ext cx="137160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Evaporator B
Q_in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2354580"/>
            <a:ext cx="137160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Condenser
Q_out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589020"/>
            <a:ext cx="137160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Pipe
(return)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3589020"/>
            <a:ext cx="1371600" cy="502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Junction /
Mixer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2404872"/>
            <a:ext cx="402336" cy="402336"/>
          </a:xfrm>
          <a:prstGeom prst="rect">
            <a:avLst/>
          </a:prstGeom>
          <a:solidFill>
            <a:srgbClr val="DDDDDD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1417320"/>
            <a:ext cx="365759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28800" y="10698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B4F8A"/>
                </a:solidFill>
                <a:latin typeface="Calibri"/>
              </a:rPr>
              <a:t>ṁ, ΔP_p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94760" y="1417320"/>
            <a:ext cx="411479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0440" y="10698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B4F8A"/>
                </a:solidFill>
                <a:latin typeface="Calibri"/>
              </a:rPr>
              <a:t>ṁ, h, 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0" y="1417320"/>
            <a:ext cx="82296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01968" y="1417320"/>
            <a:ext cx="758952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2807208"/>
            <a:ext cx="0" cy="832104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01968" y="3840480"/>
            <a:ext cx="758952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412480" y="2606040"/>
            <a:ext cx="0" cy="2299338352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2606040"/>
            <a:ext cx="731519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32520" y="3840480"/>
            <a:ext cx="4114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2862072"/>
            <a:ext cx="0" cy="722376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749041" y="3840480"/>
            <a:ext cx="1828799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577840" y="3840480"/>
            <a:ext cx="36118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794760" y="3840480"/>
            <a:ext cx="4114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005840" y="1417320"/>
            <a:ext cx="1783080" cy="2423160"/>
          </a:xfrm>
          <a:prstGeom prst="line">
            <a:avLst/>
          </a:prstGeom>
          <a:ln w="19050">
            <a:solidFill>
              <a:srgbClr val="1A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03920" y="7772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Q_out → sink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2344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(condenser)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3774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E7D"/>
                </a:solidFill>
                <a:latin typeface="Calibri"/>
              </a:rPr>
              <a:t>P_ref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7040" y="1005840"/>
            <a:ext cx="1371600" cy="25603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1051560"/>
            <a:ext cx="1280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Variables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   pressure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h   enthalpy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ṁ   mass flow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x   quality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Q_in  heat load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Q_out heat rejection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ΔP_p  pump 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9204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Loop pressure closure: the sum of pressure changes around any closed path must equal zero. Phase change occurs in the evaporator (two-phase) and condenser (condensation). Parallel branches share the same ΔP; branch flow rates are solver-determined.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8A"/>
                </a:solidFill>
                <a:latin typeface="Calibri"/>
              </a:rPr>
              <a:t>State Representation and Property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Primary unknowns, derived quantities, and the (P, h)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5669280" cy="320040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94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  <a:latin typeface="Calibri"/>
              </a:rPr>
              <a:t>SystemState  (solver-owned)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Stored primary unknowns (flat ordered vector):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  P    pressure at each port-node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  h    specific enthalpy at each port-node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  ṁ    mass flow rate at each port-node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  V_g  accumulator gas volume  (internal state)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  ω    pump shaft speed         (named seam, frozen v1)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1" i="0">
                <a:solidFill>
                  <a:srgbClr val="7A5200"/>
                </a:solidFill>
                <a:latin typeface="Calibri"/>
              </a:rPr>
              <a:t>ṁ is NOT part of FluidState.</a:t>
            </a:r>
          </a:p>
          <a:p>
            <a:pPr algn="l"/>
            <a:r>
              <a:rPr sz="1200" b="1" i="0">
                <a:solidFill>
                  <a:srgbClr val="7A5200"/>
                </a:solidFill>
                <a:latin typeface="Calibri"/>
              </a:rPr>
              <a:t>Ports carry NO values — connectivity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005840"/>
            <a:ext cx="5852160" cy="3200400"/>
          </a:xfrm>
          <a:prstGeom prst="rect">
            <a:avLst/>
          </a:prstGeom>
          <a:solidFill>
            <a:srgbClr val="E0F4F6"/>
          </a:solidFill>
          <a:ln w="9525">
            <a:solidFill>
              <a:srgbClr val="1A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97280"/>
            <a:ext cx="5577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7D"/>
                </a:solidFill>
                <a:latin typeface="Calibri"/>
              </a:rPr>
              <a:t>FluidState  (P, h, identity)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Derived on demand — never stored:</a:t>
            </a:r>
          </a:p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  T, T_sat, ρ, μ, k, σ, c_p, phase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Quality (vapour fraction):</a:t>
            </a:r>
          </a:p>
          <a:p>
            <a:pPr algn="l"/>
            <a:r>
              <a:rPr sz="1300" b="1" i="0">
                <a:solidFill>
                  <a:srgbClr val="1B4F8A"/>
                </a:solidFill>
                <a:latin typeface="Calibri"/>
              </a:rPr>
              <a:t>  x = (h − h_f(P)) / (h_g(P) − h_f(P))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Continuous across subcooled / two-phase /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superheated — no region-switching required.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PropertyBackend: CoolProp (default),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REFPROP, tabulated, or empirical — swappable.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343400"/>
            <a:ext cx="11365992" cy="11887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07408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  <a:latin typeface="Calibri"/>
              </a:rPr>
              <a:t>Why (P, h)?</a:t>
            </a:r>
          </a:p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(P, h) is single-valued and continuous across all thermodynamic regions. Storing T or ρ beside (P, h) creates a second source of truth that can drift silently. In dynamics, h is the natural energy-equation variable; adding dynamics activates stored derivatives, it does not change the state representation.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8A"/>
                </a:solidFill>
                <a:latin typeface="Calibri"/>
              </a:rPr>
              <a:t>Architecture as Physical Responsibility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 strictly acyclic layered dependency graph — dependencies flow in one direction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8412480" cy="493776"/>
          </a:xfrm>
          <a:prstGeom prst="rect">
            <a:avLst/>
          </a:prstGeom>
          <a:solidFill>
            <a:srgbClr val="E0F4F6"/>
          </a:solidFill>
          <a:ln w="9525">
            <a:solidFill>
              <a:srgbClr val="1A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926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0 — Inert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6926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Geometry  |  PropertyBackend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8412480" cy="493776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179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1 — Thermodynamic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1790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FluidState (P, h, identity) → PropertyBackend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8412480" cy="493776"/>
          </a:xfrm>
          <a:prstGeom prst="rect">
            <a:avLst/>
          </a:prstGeom>
          <a:solidFill>
            <a:srgbClr val="EFF0FA"/>
          </a:solidFill>
          <a:ln w="9525">
            <a:solidFill>
              <a:srgbClr val="8A8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06654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2 —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6654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Port  (connectivity only — carries no numerical values)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8412480" cy="493776"/>
          </a:xfrm>
          <a:prstGeom prst="rect">
            <a:avLst/>
          </a:prstGeom>
          <a:solidFill>
            <a:srgbClr val="FBF0E8"/>
          </a:solidFill>
          <a:ln w="9525">
            <a:solidFill>
              <a:srgbClr val="CC8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6151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3 — 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61518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Correlation  (pure, stateless:  evaluate(input) → value + validity)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493776"/>
          </a:xfrm>
          <a:prstGeom prst="rect">
            <a:avLst/>
          </a:prstGeom>
          <a:solidFill>
            <a:srgbClr val="FDF6E3"/>
          </a:solidFill>
          <a:ln w="9525">
            <a:solidFill>
              <a:srgbClr val="C8A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163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4 — Modifier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16382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Calibration  (named multipliers on closure outputs — not on balances)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8412480" cy="493776"/>
          </a:xfrm>
          <a:prstGeom prst="rect">
            <a:avLst/>
          </a:prstGeom>
          <a:solidFill>
            <a:srgbClr val="F0F7EE"/>
          </a:solidFill>
          <a:ln w="9525">
            <a:solidFill>
              <a:srgbClr val="6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71246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5 — Local physics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1246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Component  (geometry + correlations + calibration → residuals)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8412480" cy="493776"/>
          </a:xfrm>
          <a:prstGeom prst="rect">
            <a:avLst/>
          </a:prstGeom>
          <a:solidFill>
            <a:srgbClr val="F2ECF8"/>
          </a:solidFill>
          <a:ln w="9525">
            <a:solidFill>
              <a:srgbClr val="906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42611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6 — Topology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26110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Network  (topology, loop closure, branch structure, pressure-reference wiring)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8412480" cy="493776"/>
          </a:xfrm>
          <a:prstGeom prst="rect">
            <a:avLst/>
          </a:prstGeom>
          <a:solidFill>
            <a:srgbClr val="F7ECEC"/>
          </a:solidFill>
          <a:ln w="9525">
            <a:solidFill>
              <a:srgbClr val="B8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80974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Layer 7 — Numerics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80974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Solver  (assembles residuals, drives convergence — contains NO physics)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8412480" cy="493776"/>
          </a:xfrm>
          <a:prstGeom prst="rect">
            <a:avLst/>
          </a:prstGeom>
          <a:solidFill>
            <a:srgbClr val="E8F2E8"/>
          </a:solidFill>
          <a:ln w="9525">
            <a:solidFill>
              <a:srgbClr val="509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53583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35838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Result  (converged state + invariant residuals + calibration report + tuple reference)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15400" y="914400"/>
            <a:ext cx="0" cy="4882896"/>
          </a:xfrm>
          <a:prstGeom prst="line">
            <a:avLst/>
          </a:prstGeom>
          <a:ln w="25400">
            <a:solidFill>
              <a:srgbClr val="1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961120" y="13716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4F8A"/>
                </a:solidFill>
                <a:latin typeface="Calibri"/>
              </a:rPr>
              <a:t>dependencies
flow down
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4114800"/>
            <a:ext cx="2560320" cy="219456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4187952"/>
            <a:ext cx="2377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Three sanctioned seams: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① Swap a Correlation
   → config change only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② Edit the Network topology
   → topology change only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③ Swap the Solver
   → numerics change only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The DAG guarantees none
disturbs the others.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8A"/>
                </a:solidFill>
                <a:latin typeface="Calibri"/>
              </a:rPr>
              <a:t>Governing Balances and Closure Seams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Conservation equations vs. closure relations — a strict distinction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5637276" cy="39319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5001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libri"/>
              </a:rPr>
              <a:t>Conservation equations  (never scaled)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Mass balance at each junction:</a:t>
            </a:r>
          </a:p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  Σ ṁ_in  −  Σ ṁ_out  =  0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Energy balance (steady, per component):</a:t>
            </a:r>
          </a:p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  Q̇ − Ẇ + Σ ṁ_in h_in − Σ ṁ_out h_out = 0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Pressure loop closure (per closed path):</a:t>
            </a:r>
          </a:p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  Σ ΔP  =  0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Pipe pressure gradient (per cell, 1D):</a:t>
            </a:r>
          </a:p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  dP/dx  =  (dP/dx)_fric  +  (dP/dx)_grav  +  (dP/dx)_acc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   = R* · (dP/dx)_fric,corr  +  ρg(dz/dx)  +  d(G²v)/dx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7A5200"/>
                </a:solidFill>
                <a:latin typeface="Calibri"/>
              </a:rPr>
              <a:t>R* = calibration multiplier (friction term 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005840"/>
            <a:ext cx="5637276" cy="3931920"/>
          </a:xfrm>
          <a:prstGeom prst="rect">
            <a:avLst/>
          </a:prstGeom>
          <a:solidFill>
            <a:srgbClr val="E0F4F6"/>
          </a:solidFill>
          <a:ln w="9525">
            <a:solidFill>
              <a:srgbClr val="1A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8796" y="1097280"/>
            <a:ext cx="55001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7D"/>
                </a:solidFill>
                <a:latin typeface="Calibri"/>
              </a:rPr>
              <a:t>Closure quantities  (replaceable, validated)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Single-phase friction gradient: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(dP/dx)_fric  from Churchill (1977),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Müller-Steinhagen-Heck, or user-supplied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Two-phase pressure drop: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Friedel, Müller-Steinhagen-Heck, …</a:t>
            </a:r>
          </a:p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  (Phase 11 — in progress)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Heat transfer coefficient: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Shah, Gungor-Winterton, Kim-Mudawar, …</a:t>
            </a:r>
          </a:p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  (Phase 11 — in progress)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Void fraction / two-phase density: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HEM-type admissible; framework is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closure-agnostic — slip, drift-flux,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regime-dependent closures are future options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074920"/>
            <a:ext cx="11365992" cy="713232"/>
          </a:xfrm>
          <a:prstGeom prst="rect">
            <a:avLst/>
          </a:prstGeom>
          <a:solidFill>
            <a:srgbClr val="FDF8EC"/>
          </a:solidFill>
          <a:ln w="9525">
            <a:solidFill>
              <a:srgbClr val="7A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5200"/>
                </a:solidFill>
                <a:latin typeface="Calibri"/>
              </a:rPr>
              <a:t>Calibration firewall: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Calibration multipliers scale closure outputs only (friction gradient, HTC). They never scale conservation equations. A wrong calibration worsens the balance residual — it cannot produce a false-passing balance.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8A"/>
                </a:solidFill>
                <a:latin typeface="Calibri"/>
              </a:rPr>
              <a:t>Pump and Accumulator: Drive and Pressure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Phase 10 — implemented at V1 fidelity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5637276" cy="338328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50011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libri"/>
              </a:rPr>
              <a:t>Pump  — pressure-rise / map / command seam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Prescribed pressure rise:</a:t>
            </a:r>
          </a:p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  ΔP_p  =  ΔP_setpoint · R_p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Performance-map evaluation: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  ΔP_p  =  f(ṁ, ω)  from interpolated map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Power / efficiency seam:</a:t>
            </a:r>
          </a:p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  Ẇ_p  ≈  ṁ · ΔP_p · v / η_p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  v = specific volume (from FluidState)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7A5200"/>
                </a:solidFill>
                <a:latin typeface="Calibri"/>
              </a:rPr>
              <a:t>Shaft-speed ω: named internal state (frozen v1)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Commands: speed setpoint or flow target</a:t>
            </a:r>
          </a:p>
          <a:p>
            <a:pPr algn="l"/>
            <a:r>
              <a:rPr sz="1000" b="0" i="1">
                <a:solidFill>
                  <a:srgbClr val="7A5200"/>
                </a:solidFill>
                <a:latin typeface="Calibri"/>
              </a:rPr>
              <a:t>Pump does NOT know Network or Solver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005840"/>
            <a:ext cx="5637276" cy="3383280"/>
          </a:xfrm>
          <a:prstGeom prst="rect">
            <a:avLst/>
          </a:prstGeom>
          <a:solidFill>
            <a:srgbClr val="E0F4F6"/>
          </a:solidFill>
          <a:ln w="9525">
            <a:solidFill>
              <a:srgbClr val="1A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8796" y="1097280"/>
            <a:ext cx="550011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7D"/>
                </a:solidFill>
                <a:latin typeface="Calibri"/>
              </a:rPr>
              <a:t>Accumulator  — pressure-reference component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PCA (pneumatic) pressure law:</a:t>
            </a:r>
          </a:p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  P(V_g)  =  P_charge · (V_charge / V_g)^n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  V_g : gas volume (internal state in SystemState)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Law slot — swappable: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PCA (implemented)  |  HCA (declared seam)</a:t>
            </a:r>
          </a:p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  bellows / spring / gas-charged (future)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Ownership split: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Accumulator owns: law, value, geometry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Network owns: which node is the reference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Solver owns: global consistency</a:t>
            </a:r>
          </a:p>
          <a:p>
            <a:pPr algn="l"/>
            <a:r>
              <a:rPr sz="1000" b="0" i="1">
                <a:solidFill>
                  <a:srgbClr val="7A5200"/>
                </a:solidFill>
                <a:latin typeface="Calibri"/>
              </a:rPr>
              <a:t>A second accumulator → topology validation 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526280"/>
            <a:ext cx="11365992" cy="658368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Phase 10 status:</a:t>
            </a:r>
          </a:p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Pump map/command/power seam, accumulator PCA law, V_g internal state, and Network pressure-reference wiring are implemented and audited. Dynamic shaft-speed derivatives and full loop pressure convergence are Phase 11+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8A"/>
                </a:solidFill>
                <a:latin typeface="Calibri"/>
              </a:rPr>
              <a:t>Next Development: HeatExchangerModel, Evaporator and Condenser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Phase 11 — in progress (foundation and ε-NTU checkpoints merged)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188720"/>
            <a:ext cx="2926080" cy="2194560"/>
          </a:xfrm>
          <a:prstGeom prst="rect">
            <a:avLst/>
          </a:prstGeom>
          <a:solidFill>
            <a:srgbClr val="EAF0F9"/>
          </a:solidFill>
          <a:ln w="9525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33088" y="1280160"/>
            <a:ext cx="27066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4F8A"/>
                </a:solidFill>
                <a:latin typeface="Calibri"/>
              </a:rPr>
              <a:t>HeatExchangerModel</a:t>
            </a:r>
          </a:p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(component-internal strategy)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Strategies (not correlations):</a:t>
            </a:r>
          </a:p>
          <a:p>
            <a:pPr algn="l"/>
            <a:r>
              <a:rPr sz="1000" b="0" i="0">
                <a:solidFill>
                  <a:srgbClr val="1A6B3A"/>
                </a:solidFill>
                <a:latin typeface="Calibri"/>
              </a:rPr>
              <a:t>  ε-NTU  (implemented — foundation+11B)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  LMTD  (planned)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  Segmented marching  (planned)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  Moving boundary  (declared seam)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2286000.0"/>
            <a:ext cx="3520440" cy="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1234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→  PropertyBackend  (fluid properties)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→  HTC correlations  (Shah, KM, 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65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→  ΔP correlations  (Friedel, 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→  Geometry  (plate, microchannel, 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→  Secondary BC  (T_sink, ṁ_sink, cp_sink)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632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→  Discretization  (Lumped / Segmented)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286000.0"/>
            <a:ext cx="4782312" cy="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23760" y="1234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Q̇  (heat rate)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00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h_out  (outlet enthalpy)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ΔP  (pressure drop)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31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residuals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697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validity verdicts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63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calibration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57600"/>
            <a:ext cx="11365992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67328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  <a:latin typeface="Calibri"/>
              </a:rPr>
              <a:t>Key distinction: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A Correlation returns one local closure value. A HeatExchangerModel is a solution strategy that consumes correlations, geometry, secondary boundary conditions and the PropertyBackend to produce an integrated thermal result. ε-NTU is a HeatExchangerModel strategy — not a correlation.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54880"/>
            <a:ext cx="11365992" cy="822960"/>
          </a:xfrm>
          <a:prstGeom prst="rect">
            <a:avLst/>
          </a:prstGeom>
          <a:solidFill>
            <a:srgbClr val="F4F8F4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09744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A"/>
                </a:solidFill>
                <a:latin typeface="Calibri"/>
              </a:rPr>
              <a:t>Scientific opportunity — parallel evaporators and branch flow distribution: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Each branch carries its own HeatExchangerModel, geometry, HTC/DP closures, and flow condition. Branch flows are solver-determined from equal-ΔP conditions. This framework supports maldistribution studies natively through topology — no special-casing.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4F8A"/>
                </a:solidFill>
                <a:latin typeface="Calibri"/>
              </a:rPr>
              <a:t>Scientific Opportunities, Limitations and Validation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"Architecture is used here to make physical assumptions explicit, replaceable and testable."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3666744" cy="3474720"/>
          </a:xfrm>
          <a:prstGeom prst="rect">
            <a:avLst/>
          </a:prstGeom>
          <a:solidFill>
            <a:srgbClr val="F0F7EE"/>
          </a:solidFill>
          <a:ln w="9525"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078992"/>
            <a:ext cx="348386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3A"/>
                </a:solidFill>
                <a:latin typeface="Calibri"/>
              </a:rPr>
              <a:t>Scientific opportunities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Parallel evaporators and branch
   maldistribution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Correlation comparison studies
   (Shah vs Kim-Mudawar, etc.)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HEM vs slip / drift-flux /
   void-fraction closure alternatives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Accumulator influence on loop
   pressure stability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DOE / parametric sweeps over
   geometry and operating point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Dynamic modelling and transient
   response (future seams prepared)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Control-oriented linearisation
   (MPC / ROM extraction)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1104" y="1005840"/>
            <a:ext cx="3666744" cy="3474720"/>
          </a:xfrm>
          <a:prstGeom prst="rect">
            <a:avLst/>
          </a:prstGeom>
          <a:solidFill>
            <a:srgbClr val="FDF8EC"/>
          </a:solidFill>
          <a:ln w="9525">
            <a:solidFill>
              <a:srgbClr val="7A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1078992"/>
            <a:ext cx="348386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5200"/>
                </a:solidFill>
                <a:latin typeface="Calibri"/>
              </a:rPr>
              <a:t>Current limitations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Steady-state only
   (dynamics: seams declared)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1D / lumped component contributions
   (segmented fidelity available)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Correlations are semi-empirical
   and validity-bounded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Two-phase HX physics (Phase 11)
   not yet complete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HCA accumulator: declared seam,
   not yet implemented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LMTD, segmented-march, moving-
   boundary HX: planned, not built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 Moving-boundary condenser:
   dynamic event detection deferred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0728" y="1005840"/>
            <a:ext cx="3666744" cy="3474720"/>
          </a:xfrm>
          <a:prstGeom prst="rect">
            <a:avLst/>
          </a:prstGeom>
          <a:solidFill>
            <a:srgbClr val="EAF0F9"/>
          </a:solidFill>
          <a:ln w="9525">
            <a:solidFill>
              <a:srgbClr val="A0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0456" y="1078992"/>
            <a:ext cx="348386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libri"/>
              </a:rPr>
              <a:t>Validation roadmap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A6B3A"/>
                </a:solidFill>
                <a:latin typeface="Calibri"/>
              </a:rPr>
              <a:t>Completed: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Phases 1–10 audited
  2 301 tests passing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Unit: FluidState, Correlation,
  Calibration, Geometry, Pump, PCA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Network topology and assembly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Steady solver residuals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7A5200"/>
                </a:solidFill>
                <a:latin typeface="Calibri"/>
              </a:rPr>
              <a:t>In progress: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HX model + ε-NTU (Phase 11)</a:t>
            </a:r>
          </a:p>
          <a:p>
            <a:pPr algn="l"/>
            <a:r>
              <a:rPr sz="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Planned: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Kokate (2024) R-134a loop data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Li et al. (2021) Acetone data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Fujii (2004) validation data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  MPL2030 experimental data
  (future phases)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17720"/>
            <a:ext cx="11365992" cy="6858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90872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"Architecture is used here to make physical assumptions explicit, replaceable and testable."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889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MPL2030 — MPL loop simulation library    |  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